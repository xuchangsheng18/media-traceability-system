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a1d3f21b64e55" /><Relationship Type="http://schemas.openxmlformats.org/officeDocument/2006/relationships/extended-properties" Target="/docProps/app.xml" Id="R376ae28fff9a4c84" /><Relationship Type="http://schemas.openxmlformats.org/officeDocument/2006/relationships/officeDocument" Target="/ppt/presentation.xml" Id="Re4863f56e79f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b0aac3dd704318"/>
  </p:sldMasterIdLst>
  <p:notesMasterIdLst>
    <p:notesMasterId xmlns:r="http://schemas.openxmlformats.org/officeDocument/2006/relationships" r:id="Rd9eb712902b24e10"/>
  </p:notesMasterIdLst>
  <p:sldIdLst>
    <p:sldId xmlns:r="http://schemas.openxmlformats.org/officeDocument/2006/relationships" id="256" r:id="R2313f7dece7f4960"/>
    <p:sldId xmlns:r="http://schemas.openxmlformats.org/officeDocument/2006/relationships" id="257" r:id="R3f1ce3f39b6b44f4"/>
    <p:sldId xmlns:r="http://schemas.openxmlformats.org/officeDocument/2006/relationships" id="258" r:id="R89631c3670634406"/>
    <p:sldId xmlns:r="http://schemas.openxmlformats.org/officeDocument/2006/relationships" id="259" r:id="R8298e67c08a6402a"/>
    <p:sldId xmlns:r="http://schemas.openxmlformats.org/officeDocument/2006/relationships" id="260" r:id="Re6d2827ada9f4483"/>
    <p:sldId xmlns:r="http://schemas.openxmlformats.org/officeDocument/2006/relationships" id="261" r:id="R5a911b76205d40db"/>
    <p:sldId xmlns:r="http://schemas.openxmlformats.org/officeDocument/2006/relationships" id="262" r:id="Re17b6bf6af194693"/>
    <p:sldId xmlns:r="http://schemas.openxmlformats.org/officeDocument/2006/relationships" id="263" r:id="R58dd36837d5444ea"/>
    <p:sldId xmlns:r="http://schemas.openxmlformats.org/officeDocument/2006/relationships" id="264" r:id="Rdd20943c016b4adc"/>
    <p:sldId xmlns:r="http://schemas.openxmlformats.org/officeDocument/2006/relationships" id="265" r:id="Rc2f0565cb1b84403"/>
    <p:sldId xmlns:r="http://schemas.openxmlformats.org/officeDocument/2006/relationships" id="266" r:id="R6e7bfd725cb84c76"/>
    <p:sldId xmlns:r="http://schemas.openxmlformats.org/officeDocument/2006/relationships" id="267" r:id="Rce252fade7ee4b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2584b76c4486e" /><Relationship Type="http://schemas.openxmlformats.org/officeDocument/2006/relationships/slideMaster" Target="/ppt/slideMasters/slideMaster1.xml" Id="R29b0aac3dd704318" /><Relationship Type="http://schemas.openxmlformats.org/officeDocument/2006/relationships/notesMaster" Target="/ppt/notesMasters/notesMaster1.xml" Id="Rd9eb712902b24e10" /><Relationship Type="http://schemas.openxmlformats.org/officeDocument/2006/relationships/presProps" Target="/ppt/presProps.xml" Id="R73b35300641741e0" /><Relationship Type="http://schemas.openxmlformats.org/officeDocument/2006/relationships/tableStyles" Target="/ppt/tableStyles.xml" Id="Ree1c497a428f4c9a" /><Relationship Type="http://schemas.openxmlformats.org/officeDocument/2006/relationships/slide" Target="/ppt/slides/slide1.xml" Id="R2313f7dece7f4960" /><Relationship Type="http://schemas.openxmlformats.org/officeDocument/2006/relationships/slide" Target="/ppt/slides/slide2.xml" Id="R3f1ce3f39b6b44f4" /><Relationship Type="http://schemas.openxmlformats.org/officeDocument/2006/relationships/slide" Target="/ppt/slides/slide3.xml" Id="R89631c3670634406" /><Relationship Type="http://schemas.openxmlformats.org/officeDocument/2006/relationships/slide" Target="/ppt/slides/slide4.xml" Id="R8298e67c08a6402a" /><Relationship Type="http://schemas.openxmlformats.org/officeDocument/2006/relationships/slide" Target="/ppt/slides/slide5.xml" Id="Re6d2827ada9f4483" /><Relationship Type="http://schemas.openxmlformats.org/officeDocument/2006/relationships/slide" Target="/ppt/slides/slide6.xml" Id="R5a911b76205d40db" /><Relationship Type="http://schemas.openxmlformats.org/officeDocument/2006/relationships/slide" Target="/ppt/slides/slide7.xml" Id="Re17b6bf6af194693" /><Relationship Type="http://schemas.openxmlformats.org/officeDocument/2006/relationships/slide" Target="/ppt/slides/slide8.xml" Id="R58dd36837d5444ea" /><Relationship Type="http://schemas.openxmlformats.org/officeDocument/2006/relationships/slide" Target="/ppt/slides/slide9.xml" Id="Rdd20943c016b4adc" /><Relationship Type="http://schemas.openxmlformats.org/officeDocument/2006/relationships/slide" Target="/ppt/slides/slide10.xml" Id="Rc2f0565cb1b84403" /><Relationship Type="http://schemas.openxmlformats.org/officeDocument/2006/relationships/slide" Target="/ppt/slides/slide11.xml" Id="R6e7bfd725cb84c76" /><Relationship Type="http://schemas.openxmlformats.org/officeDocument/2006/relationships/slide" Target="/ppt/slides/slide12.xml" Id="Rce252fade7ee4b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f79e9a70d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a70775f704c8a" /><Relationship Type="http://schemas.openxmlformats.org/officeDocument/2006/relationships/notesMaster" Target="/ppt/notesMasters/notesMaster1.xml" Id="R1d62c087fb9849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6ed88f8354dc4" /><Relationship Type="http://schemas.openxmlformats.org/officeDocument/2006/relationships/notesMaster" Target="/ppt/notesMasters/notesMaster1.xml" Id="Rcbf3efffa97745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4eafee4c164756" /><Relationship Type="http://schemas.openxmlformats.org/officeDocument/2006/relationships/notesMaster" Target="/ppt/notesMasters/notesMaster1.xml" Id="R8a476a17b4a241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427d313c742a8" /><Relationship Type="http://schemas.openxmlformats.org/officeDocument/2006/relationships/notesMaster" Target="/ppt/notesMasters/notesMaster1.xml" Id="Rc56b8acfffbe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cdca9245d413c" /><Relationship Type="http://schemas.openxmlformats.org/officeDocument/2006/relationships/notesMaster" Target="/ppt/notesMasters/notesMaster1.xml" Id="R4aaa8454eeff44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6ecf4299714b53" /><Relationship Type="http://schemas.openxmlformats.org/officeDocument/2006/relationships/notesMaster" Target="/ppt/notesMasters/notesMaster1.xml" Id="R2d06103713814c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64768f3cb248b4" /><Relationship Type="http://schemas.openxmlformats.org/officeDocument/2006/relationships/notesMaster" Target="/ppt/notesMasters/notesMaster1.xml" Id="Reb97d821877c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1a355a2de14229" /><Relationship Type="http://schemas.openxmlformats.org/officeDocument/2006/relationships/notesMaster" Target="/ppt/notesMasters/notesMaster1.xml" Id="Rf0390e3f2ed94c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06a1cb90fe4d0a" /><Relationship Type="http://schemas.openxmlformats.org/officeDocument/2006/relationships/notesMaster" Target="/ppt/notesMasters/notesMaster1.xml" Id="Rb8e321c8333049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eac1af812e4b19" /><Relationship Type="http://schemas.openxmlformats.org/officeDocument/2006/relationships/notesMaster" Target="/ppt/notesMasters/notesMaster1.xml" Id="R905a1d956f6544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04d9d389344593" /><Relationship Type="http://schemas.openxmlformats.org/officeDocument/2006/relationships/notesMaster" Target="/ppt/notesMasters/notesMaster1.xml" Id="Rfe90841b4cd54b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d4454f2e7e449c" /><Relationship Type="http://schemas.openxmlformats.org/officeDocument/2006/relationships/notesMaster" Target="/ppt/notesMasters/notesMaster1.xml" Id="R22ec683fa9bb46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第12页为界面原型，页面数据均为示意，用于需求确认和后续前端开发。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1b6cde34a44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546dfed2144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3fde07fea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9236ea2d148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bdcaa339349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ca17c6ba24f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E3E1BC-FD03-4ED7-B084-57AD4D8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9FA9EF-06FD-4322-BD2F-EB4AED649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DA1D82F-9E8C-4322-89C3-8306D072C0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A8A7174-ECAE-4505-AF4A-0C317F18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290020-3F76-4555-ABAE-E8D858916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1B95D9-52DE-4E48-B677-2E6F8790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2A29DB-E468-4BF1-84F1-64226EB48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4E25B68-0982-45D5-927A-96C8CB6A73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643498-AAAF-4C7F-B796-81E50BA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F9FE31-BE62-4604-BB06-AEAC3EF30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1651D6-7AB8-4B59-8B7C-96D07AF2D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325335-BA17-4217-8784-6400345454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9EDA6A8-A044-4D83-9B21-403DEEAC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FAEE20-00E3-45D4-9EA8-0293735C3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4DCDB4-DE8D-40B1-8234-DA8ECE0307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d6710e67564339" /><Relationship Type="http://schemas.openxmlformats.org/officeDocument/2006/relationships/slideLayout" Target="/ppt/slideLayouts/slideLayout1.xml" Id="R7756182a002c489c" /><Relationship Type="http://schemas.openxmlformats.org/officeDocument/2006/relationships/slideLayout" Target="/ppt/slideLayouts/slideLayout2.xml" Id="Rbfdfc7bbbbb940e2" /><Relationship Type="http://schemas.openxmlformats.org/officeDocument/2006/relationships/slideLayout" Target="/ppt/slideLayouts/slideLayout3.xml" Id="R36ddbce0dd464ff7" /><Relationship Type="http://schemas.openxmlformats.org/officeDocument/2006/relationships/slideLayout" Target="/ppt/slideLayouts/slideLayout4.xml" Id="R631f29fdaf4442ce" /><Relationship Type="http://schemas.openxmlformats.org/officeDocument/2006/relationships/slideLayout" Target="/ppt/slideLayouts/slideLayout5.xml" Id="Rc05d610733514780" /><Relationship Type="http://schemas.openxmlformats.org/officeDocument/2006/relationships/slideLayout" Target="/ppt/slideLayouts/slideLayout6.xml" Id="R8d5801cc806e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6182a002c489c"/>
    <p:sldLayoutId xmlns:r="http://schemas.openxmlformats.org/officeDocument/2006/relationships" id="2147483650" r:id="Rbfdfc7bbbbb940e2"/>
    <p:sldLayoutId xmlns:r="http://schemas.openxmlformats.org/officeDocument/2006/relationships" id="2147483651" r:id="R36ddbce0dd464ff7"/>
    <p:sldLayoutId xmlns:r="http://schemas.openxmlformats.org/officeDocument/2006/relationships" id="2147483652" r:id="R631f29fdaf4442ce"/>
    <p:sldLayoutId xmlns:r="http://schemas.openxmlformats.org/officeDocument/2006/relationships" id="2147483653" r:id="Rc05d610733514780"/>
    <p:sldLayoutId xmlns:r="http://schemas.openxmlformats.org/officeDocument/2006/relationships" id="2147483654" r:id="R8d5801cc806e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9be500bad489d" /><Relationship Type="http://schemas.openxmlformats.org/officeDocument/2006/relationships/notesSlide" Target="/ppt/notesSlides/notesSlide1.xml" Id="Rc30451d10c74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71e46f8e64528" /><Relationship Type="http://schemas.openxmlformats.org/officeDocument/2006/relationships/notesSlide" Target="/ppt/notesSlides/notesSlide2.xml" Id="R2fe4f5a83087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0aa88823043ce" /><Relationship Type="http://schemas.openxmlformats.org/officeDocument/2006/relationships/notesSlide" Target="/ppt/notesSlides/notesSlide3.xml" Id="R6d359edde66d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6d236d0244df3" /><Relationship Type="http://schemas.openxmlformats.org/officeDocument/2006/relationships/notesSlide" Target="/ppt/notesSlides/notesSlide4.xml" Id="Ra900151dbe5f41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304efb3924acc" /><Relationship Type="http://schemas.openxmlformats.org/officeDocument/2006/relationships/notesSlide" Target="/ppt/notesSlides/notesSlide5.xml" Id="R7e3a9ebfdf8547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2ddaeb38754d34" /><Relationship Type="http://schemas.openxmlformats.org/officeDocument/2006/relationships/notesSlide" Target="/ppt/notesSlides/notesSlide6.xml" Id="R47c5b3dee01e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aa523785142e7" /><Relationship Type="http://schemas.openxmlformats.org/officeDocument/2006/relationships/notesSlide" Target="/ppt/notesSlides/notesSlide7.xml" Id="R35be1af5a7a8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642c33e9b4288" /><Relationship Type="http://schemas.openxmlformats.org/officeDocument/2006/relationships/notesSlide" Target="/ppt/notesSlides/notesSlide8.xml" Id="R1a2b2685fd8e47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5f25ad3fc4b7a" /><Relationship Type="http://schemas.openxmlformats.org/officeDocument/2006/relationships/notesSlide" Target="/ppt/notesSlides/notesSlide9.xml" Id="Ra9c62b7299f84b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580d225dc4c3d" /><Relationship Type="http://schemas.openxmlformats.org/officeDocument/2006/relationships/notesSlide" Target="/ppt/notesSlides/notesSlide10.xml" Id="R3374dba845f0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d5bd1f7c24fef" /><Relationship Type="http://schemas.openxmlformats.org/officeDocument/2006/relationships/notesSlide" Target="/ppt/notesSlides/notesSlide11.xml" Id="Rb2dbb3b9b10a41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297717004446b" /><Relationship Type="http://schemas.openxmlformats.org/officeDocument/2006/relationships/notesSlide" Target="/ppt/notesSlides/notesSlide12.xml" Id="R8a8e69fdc4f14b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B77179-6DB2-447F-9713-F45B718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31D4E-89C8-408A-B665-010851F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5DA19-5DE7-401F-B8E8-75C5227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262C9-4621-4B74-8711-483978A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4220A-B64D-400C-83A8-FF5A747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11306-6590-4A3B-9FEB-62B9D888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FFD4E-B85C-4FDD-AD87-784DDD7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00012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AC41E-2E62-4BBB-B034-D9738D6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B0C47-12E2-45C0-B214-950007D9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25E30-9C30-49DA-8335-6EF02D1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63140-02FA-4C77-AEB8-367423D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CEFE5-F2BF-434A-9B8A-A3B19CA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A7A61-A134-4904-ABD8-D4E8C86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44217-1213-47D2-912A-C607BA1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69F48-2F4A-4F90-8A3F-DA73BD1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25BDF-1A3F-4FEE-954E-4539E43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2D206-DE78-4CE2-9165-903F35E2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50487-C3F7-4DBF-8EE2-D7C826BA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FF042-0435-4723-9212-C30A3EB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44C0C-00E4-4EAC-A27F-26E60367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0E3F9-90BB-481B-849E-0A0B3EB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5BB9D-CF51-4EA6-8125-37B8F299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63CF8-884E-4DBF-9449-47A47359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4FF74-FD52-4231-B123-8B9511B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31717-5162-4837-9A2D-D195BA1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2757D-DD7D-4A55-8FAE-53E0661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C48F6-826B-44F2-96D4-19C9B7E8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7BF1F-4342-4E86-9DA4-E32F8A8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C2B28-D470-4FDF-A61F-0E6D80B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DBBE9-2F11-4A0E-81D6-C00B743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C08EF-6140-4F8D-B180-B6962B6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D04D0-C7F2-4740-BC25-8B3EEB4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多源数据接入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540E9-9538-4E90-9BBF-47B7625A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上传素材并登记来源信息，系统自动校验后创建核查任务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CA90A-E6E4-47C5-A1E7-A34F37F5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8F5B46-778E-4409-BE48-B15AA99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4853C-4D87-4C09-B6E4-15125FC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9667875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1E80-16C9-46E5-B325-CD9300F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71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上传待核查素材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B3DB88-5982-4D1A-B506-F9894B7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05000"/>
            <a:ext cx="6191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AFC7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82B28B-8B4A-45A1-90A6-979D4D0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拖入图片或视频，也可选择批量目录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F192D6-B5FA-4916-9F66-78E930E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095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96C3C2-42D5-4494-8722-16282BE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选择文件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1EC7D7-C07F-41BB-968C-7746D41D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1314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C39A17-5A3D-44C4-AF8F-BD0ECBE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接入授权平台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832E74-85B9-4129-A0FA-21A08A6D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43200"/>
            <a:ext cx="9667875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654CD2-E6AE-4AB9-8A12-E8EFDEC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765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来源登记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AC2A2E-C0E9-416A-816C-2873CD13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19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案件或线索编号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350955-F4E5-4465-80C1-E5863144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29000"/>
            <a:ext cx="2095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EBE15B-4A5A-4A76-914B-77FB9F2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GX-2026-1002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55EF4B-D8AA-41C0-86C0-616BCAA9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来源平台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4AE1AE-01A3-47E5-BC64-827E2EA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9050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67C064-026C-480A-B1C3-CC654A7A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某短视频平台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B31C31-0C68-404D-A548-789BDA8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账号名称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044D64-B41C-4315-A243-2986A70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2095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E2E0A8-940A-467E-A396-B8F44C50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示例账号A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B64CCB-CBBD-44D5-A644-71722530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原始链接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CE1C82-7F08-43FA-96A3-3BB84E1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571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11137B-E0B1-400A-8DDF-7E56C41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https://example/...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485328-1069-4453-AADA-04AD3B8D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28575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72FBDB-F3B5-4EB9-B882-CB42D0B4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91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文件名称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DA5F78-02BA-4F82-9130-A37EB9E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91050"/>
            <a:ext cx="14287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D5F2E7-8C79-4D40-A6AD-259632C8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910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类型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66A833-38EC-4622-835C-72C55E4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13335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28FF80-277C-4A84-9B4A-283AD78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大小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F6351F-AABC-4299-889C-76C320D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12382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ABEC79-632C-4A3A-A5D1-EC77E51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校验状态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64B0CC-D4BB-4A4F-A7A2-8FA82FA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91050"/>
            <a:ext cx="13335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6D941E-CCF2-4F4F-8E07-61B4D3B9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910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来源完整度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763C3A-7A7F-4797-945B-4E41F52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91050"/>
            <a:ext cx="1476375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DE88C8-D2C4-4835-9ED5-9B290AAE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91050"/>
            <a:ext cx="136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操作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4784C2-D0B9-4E66-860B-4F970CB0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14900"/>
            <a:ext cx="2857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0F71CF-4CEA-4587-AB2A-0F64E70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149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现场视频_01.mp4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09A278-9805-49E5-B69A-1DE509B7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14900"/>
            <a:ext cx="14287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A5D64D-73A6-4DF0-8447-699E60E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149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视频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CD321F-CCDB-4ED9-B9BE-0D4D495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1333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332CE0-7C87-4888-AC0C-90B603D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86.4 MB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310D41-C0CE-4DB9-8996-860BEC8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1490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1E77A7-092B-4CA1-8DA0-A9B1FBF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校验通过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95A5F3-B364-464C-8C6F-A7CE1ED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14900"/>
            <a:ext cx="1333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B9DE9E-BF35-4F1D-BA4B-AEF7386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149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完整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2DED07-B6DE-429A-A588-E44F2AE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14900"/>
            <a:ext cx="147637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690A69-7813-4E9B-839A-BA293535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914900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预览  删除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CB9EA0-C790-428B-88EC-C5CC18C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76850"/>
            <a:ext cx="2857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18170A-A50D-4DEB-B314-6C68B09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页面截图_02.png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045D12-4D3B-4699-BF28-65747005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76850"/>
            <a:ext cx="14287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E76259-4153-46E6-A0BF-09AB2C0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768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图片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7834D6-2159-4B97-827D-78520BEE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76850"/>
            <a:ext cx="1333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BE1FFB-14CD-477E-A6F2-75EF8195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3.8 MB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E46697-D53D-40A6-9C59-41A2BB6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7685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2C9E72-65B9-4631-9D86-40DDDB6E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7685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待补充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242BBF-A7F8-4100-B0FD-CF1A60F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76850"/>
            <a:ext cx="1333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35076A-CC92-4EA3-8BBA-B0B838F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768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缺少时间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C79038-32D7-4BA4-BA64-98E6B0E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76850"/>
            <a:ext cx="147637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8A3038-1D81-4935-B1A2-D41C3E3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76850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补充  删除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8637984-1168-48FC-832C-C3C9BB1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29300"/>
            <a:ext cx="96678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020DA5-3398-4548-984F-99C6C48C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19800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B38BE5-AAC4-4FA7-8491-6457895A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198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2个文件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B904399-C918-4226-A131-EAD487F3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24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通过校验后自动生成任务编号并进入分析队列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621221-88B7-4B17-9354-F0C8506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9817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D2668F-AFD0-473C-82DE-3788BEB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981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创建核查任务</a:t>
            </a:r>
          </a:p>
        </p:txBody>
      </p:sp>
    </p:spTree>
    <p:extLst>
      <p:ext uri="{BB962C8B-B14F-4D97-AF65-F5344CB8AC3E}">
        <p14:creationId xmlns:p14="http://schemas.microsoft.com/office/powerpoint/2010/main" val="1057234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DEF7081-44E0-451D-958E-813BEC3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1CBA-4B4B-4794-BF03-7C9512A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F3D1-230C-49DA-BE3F-6E18ACE2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27DDC-89E8-49E2-AF52-A3A8EA8A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7DE61-71A4-45E2-8D4B-8B4BD22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9F393-FD42-499A-AC3E-1261A4AA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3CC7E-C4E2-4586-A5A3-DF0B42A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CBFEB-5EC6-4B61-9EA7-D22EE60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F87D-95BD-422A-ABCD-C64BEEF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44780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33B02-F8C1-40C7-84B7-182089B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97754-9839-4340-8C74-D640788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DEE9D-6C01-49DE-AF4A-9D615B33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862DA-6AD0-4BD6-8AB8-AE283F4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8B15C-550F-45DD-96F5-A0D63CEE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7D24-1B5C-4306-BCFF-BAF127C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8DF92-F7B2-43C4-8F7D-6CE9B6A5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AA7E5-2A4A-4FB6-A832-A8EDAE4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26CBF-C009-4FBF-B532-365835C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F2426-921B-49FB-AFF5-80782C4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BC42D-1F82-4D2A-8025-F43E243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BC6EB-D9EB-4D05-A889-D18E328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52FBA-6586-4DF0-9232-39AD985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31017-15D6-4A39-AD59-ED8E59A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16A30-F73E-4B4F-9836-6B4A2DD4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37E3E-540D-444C-A131-7A6338E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FC13C-C574-4696-96C1-7C87181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B236D-6CA5-48A1-98B2-CC32C7D3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6CC51-2887-4687-8B58-E7E8FDF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286382-6728-4257-9044-C0A9B51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78D48-B052-4777-9AAC-034D4F0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E6A66-B182-4DD5-8538-F10AF80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46293C-5F47-4DF9-8DFF-64A19F4E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数据治理与资源库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BBBC1-32C9-417C-B636-5DBA9CA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统一检索原始素材、编辑版本、分析结果和证据记录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8DCAC-A77E-4326-A66D-95A0A5F3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3BF999-F1A0-4FD2-BF8B-FE08BEA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3BE30-9831-44B2-8937-85DC3E9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96678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E75EE2-1820-450C-9C39-9F21342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43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关键词或任务编号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03135-4977-4EDA-BD88-0927FA1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52600"/>
            <a:ext cx="4095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47CA2-3639-4B51-954D-C1DA5F3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526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输入文件名、账号、任务编号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1B70D-45EB-4195-9BF7-52B3E782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来源平台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0154B2-890D-4466-B8F0-CCEE7EC6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1619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228FC-6280-4E16-A798-04D0572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全部平台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D4F5C1-6C6A-481E-B13F-AA0C2D0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43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时间范围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B1CD97-7FFB-458D-9807-3939EE56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15240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2D2018-587A-47B0-A762-8359B2EF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近30天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3F647-ECA1-4823-AF59-498B5D02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52600"/>
            <a:ext cx="1381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6AA09A-EECE-450B-B9E6-DF60039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526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查询资源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ACE9A5-899C-4AD1-BDF6-392AE9A8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BA88AF-0D73-40B2-A4B7-9F20A0B8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资源总量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61D617-E57C-4A9C-99AD-EDC22F0C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28,416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9C2847-0F17-494F-A048-B45E5F16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0ED044-E040-4EE3-ABDD-5B5E2E4E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本周新增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2A92D2-4055-405F-B259-F6217C0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1,286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261454-8AA8-413A-B43F-F888DCFF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435731-004F-4B4F-8420-7EA775E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38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同源内容簇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36D4FF-D21E-4C28-B2E3-DF23CBD6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rPr>
              <a:t>3,742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F20414-3BD3-45E1-AD85-258C566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43150"/>
            <a:ext cx="26384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E049FD-E9C6-487F-A678-1FF8E4FF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38400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待归档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46F1E0-A68E-4593-B5E5-241CB52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71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136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77B71A-A99D-4211-B866-6597965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76600"/>
            <a:ext cx="9667875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E908CB-B0C4-4A96-8BE3-4759C61A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资源列表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3320C2-2592-4831-8CB2-E8F03A3E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9950"/>
            <a:ext cx="1000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0B894C-5B15-4FA3-8D7E-1557C3F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99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列表 / 关系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D5A7EC-0B9B-4E74-9FB7-8A42736D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71900"/>
            <a:ext cx="22860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9423B1-55D7-4995-B44E-F043800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71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素材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EDD9BC-4CF4-490E-B2D2-949AC54B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1381125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391435-E5C4-4923-A0F0-68ED7B16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来源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8B01C3-DB5E-4C6E-84D3-37D3CEF9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71900"/>
            <a:ext cx="16192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991099-265B-4F86-90E2-206F57E1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7719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首次发现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13F731-DA56-40E9-BE21-B27B977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771900"/>
            <a:ext cx="15240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0C3E24-12DC-4DCA-B22C-05BCE32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7719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关联任务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BBB530-C72B-49E3-BF5D-3DFFB4EC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771900"/>
            <a:ext cx="1381125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899626-180F-42A1-AE1F-263604E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71900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版本关系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61F7DA-EB57-459E-8CF0-C983F410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71900"/>
            <a:ext cx="12382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A3C8EB-B8C6-44FA-AC73-6B2AB36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719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70D432-8CD0-4072-9C87-1A6D226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2286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3BFE64-0B2D-4A81-B234-63A2756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957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视频A_原始版.mp4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E80A7A3-4CEA-4C26-9259-E53B373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039CBA-33C7-455D-9B1E-53E44F2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平台甲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7ABE04-E57A-440E-B0EB-ED8CF622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9575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DC797F0-13D3-4A0C-B288-EB5EA22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957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10-02 08:36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07207B-7008-4C12-ABDC-0E4B0E08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95750"/>
            <a:ext cx="1524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DB9555-12F5-4E91-8A95-45375AFC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957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GX-1002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4B71B7-FD3C-4665-A6BF-B444F814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9575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E81992-94E2-48BE-A2C4-55CC230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原始版本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7440085-EAFA-4689-93AE-865D4D33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575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54BDEA-7425-46EB-B509-2D66616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09575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已分析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1DF3D4-9280-48F3-8418-11AA111E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57700"/>
            <a:ext cx="2286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57B672-298A-4346-8D3B-CC85429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视频A_字幕版.mp4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62781E-DA38-4CEF-8722-C3CAEF1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3F2FF2-EADF-41FB-BAE7-A2CC1CD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平台乙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2D6CAE-D35A-4432-A9A0-2AF2342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184AD0-B8C0-4A79-BFF5-59D579BF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577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10-02 09:12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E6DBA59-CCC5-400F-8B58-918EDAF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57700"/>
            <a:ext cx="1524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4415DC-6602-4077-8912-7CFFC95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4577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GX-1002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0B7259A-F70C-4C3F-859B-AF3DF68E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45770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237828C-E8CB-4E61-9640-3413E93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577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编辑版本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4EBD6C-EA0C-466F-A924-2F922D7B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5770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D30F0CF-206A-4777-B83A-0477363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57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已关联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8345EC-54DE-415D-B144-6EA9941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2286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AE1837-5BDC-4D25-87D0-2F61F285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196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图片B_截图.png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25FDDD-94B1-4600-B4AF-CADBDD5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A32B69-985A-4A30-9642-12798D1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网页来源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ECD376-E200-4197-AB38-7E2B7A7A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965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2A31D95-253F-4B58-9A62-522062A0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19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10-01 21:40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37A9C20-8A2C-468D-A3FD-F457832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819650"/>
            <a:ext cx="1524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F1B192-E85A-4BCD-8DC7-7F7A8C3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196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GX-0998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80AF7D3-E234-41F1-8203-1C5EB3E5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81965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7EEDB4-5856-4065-8D2B-BD93C4C1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8196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独立素材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2B773E-0E04-4A74-8961-E215C5AF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1965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F421B6-FF90-4EE4-866A-8EC2A87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81965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待复核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E55C191-DCA8-4012-86AA-4FFBACB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2286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B207EED-10F1-4294-91F9-2BF7B7D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1816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视频C_片段.mp4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638AEF7-DEB7-4222-9C6C-787AC9E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8160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E053D65-133D-42A5-B1E3-AB4513DE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816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平台丙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24D143-353A-416E-9AB1-418579A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18160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42CE953-3D31-46CA-8325-C6B0E96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1816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10-01 18:05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07719B-BFE8-4157-A2D5-BED8438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181600"/>
            <a:ext cx="1524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4A219FC-7531-4546-9B9C-F9D6A08D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1816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GX-0996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08E730-6E2C-4C14-BDAD-059F323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181600"/>
            <a:ext cx="1381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6041F1-8101-4D7D-93C2-57DBB1E9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1816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疑似同源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F3E9B8C-3FFF-4AA5-8BFD-3A0677D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181600"/>
            <a:ext cx="1238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0F3F1D-7E70-4C6F-AFED-892D0D2E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1816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分析中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E9ABD4F-5543-42E6-BB90-E2D312B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15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选择任一素材，可查看原始文件、编辑版本、来源页面和完整操作记录</a:t>
            </a:r>
          </a:p>
        </p:txBody>
      </p:sp>
    </p:spTree>
    <p:extLst>
      <p:ext uri="{BB962C8B-B14F-4D97-AF65-F5344CB8AC3E}">
        <p14:creationId xmlns:p14="http://schemas.microsoft.com/office/powerpoint/2010/main" val="2050676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4D4C2B-627C-4132-9BE4-68547E7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5B004-3D30-4D72-A6A1-6AB83B3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DD7FE-2087-48F8-A00E-2201EEE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3BDC5-6BBA-4FD9-ADEC-CB97DE98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F138-5CE7-4C80-89E7-C3B6E8D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10E62-ACD1-4A97-88AD-A79B87C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9C52E-77B3-480B-98E0-9FE54B9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511D9-286B-444B-8D90-B39D5A1E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ED5D-877D-47ED-A287-F3234699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B2FCA-E965-43F7-AA26-F0584A43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135F4-257E-4300-A8B5-9BA8EB1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89547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3D170-363D-4E88-ADE3-09AFE9C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4348A-703C-4600-ABC0-A9AF2C45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11D5A-83BE-4762-B7C8-52AA06B0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27CE0-322E-4AE9-B171-BA15E8AA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B8A12-3782-4023-9E0E-029A16D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2A864-D1B5-4481-B6C1-A1BB3547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C0D81-E82E-464C-9F60-8FBEA0E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43C17-9E14-43A6-9344-D1916A3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BE25F-CBDA-47BD-9A38-2DA90052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33FEA-E8F2-4075-A7A5-903448D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F25B7-8CC4-4E95-9D1E-AF90E9D7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A193C-4C96-42E3-B45E-48B1BB7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F0004-14F9-4E37-84D6-FE3376EF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0851A-9FAC-4709-8617-49A0639F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4F1EA-CA21-435A-B6CC-555009E9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CCE76-25BD-4FAC-85B6-C9BD12B2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935B9-8788-4771-877B-6626538D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A7C02-7A61-4C9E-AF04-92AD7C4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3E341-9BB9-4BE4-8BF6-0B62E7E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B93B8-7F7B-48FB-9D9C-E9370EFF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5B5C8-B912-4FB6-ABDD-BEB3DE4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媒体智能预处理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D8B75-0FB1-43A1-BA16-866AC192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自动完成格式识别、关键帧提取、文字识别和语音转写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87EDB-6C1D-41C7-A87C-424ADFE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33ED95-7CA5-41B7-9E32-F8ED1EB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9B8243-88AB-44F2-BE04-D45E33D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3714750" cy="48958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21FC4A-BA07-4D08-B5CA-9A50BA6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素材预览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023F5-0FF2-449D-A814-36C766F9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52625"/>
            <a:ext cx="3333750" cy="18669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8232F"/>
          </a:solidFill>
          <a:ln xmlns:a="http://schemas.openxmlformats.org/drawingml/2006/main" w="9525">
            <a:solidFill>
              <a:srgbClr val="1823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210F5-7686-410B-AD22-7F3E8F80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67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视频画面预览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C4E585-128D-4800-8D1C-07B438A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现场视频_01.mp4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DF6A99-3860-409A-899D-210BA130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时长  02:18   分辨率  1920×1080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E3EC7D-B180-4306-9613-731A2C47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386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音轨  正常      字幕  未发现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10A2F7-B199-4D50-AEB1-C0DE50E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1028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96007D-2349-4EC9-B4ED-CF3509F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质量良好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A9CC4A-EB61-4001-A44B-5533EC17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9650"/>
            <a:ext cx="1028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A55926-0541-4419-88EB-12EEB2D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96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原件保留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DD70B4-77A2-4E2C-A174-BFFD6A09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处理进度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04D914-33CF-4B1D-AB4F-DE4AEA3C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0545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3F1037-7BAC-4986-A306-2527971A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05450"/>
            <a:ext cx="2781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9AD31C-787A-433F-AF7D-A029ADF7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95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86%  正在生成语音文字稿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97BFD5-2FD8-47F6-838C-01FC4AF8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28750"/>
            <a:ext cx="5781675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922929-8A9E-4804-9C2E-DC3B8F1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处理步骤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25025C-469E-42CE-A462-51DAC65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86026D-9ED5-4ADB-832C-3002735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A0EEDB-67A7-4C1E-9837-065BB65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格式解析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277971-667A-4C55-8263-E85790FF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6215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A0EE8B-3020-4ADF-AD19-7A068408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621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完成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14F7F9-6101-4F5C-82F4-38ACFFB9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95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4B5892-A926-4834-86FE-FC13B08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3FF9D7-881E-4CDF-8685-A6EA313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镜头与关键帧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3CCABA-2B38-432B-9483-3B3182D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742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EF813C-87FD-4D6B-A373-92A5125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74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完成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DC6C3F-D227-428A-89EF-36F7BB9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77C6D8-8C5A-49C9-8615-848F68D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30E59B-66CC-4C1B-987F-76DC022F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画面文字识别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D48B06-954B-49A2-98AF-1F2177F5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355082-A4F8-4FB1-BB2D-A039378E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完成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1C4461-5C78-4FDD-967E-9A17480E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EAD687-58BC-4E97-8886-F68566D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B89E08-A8E7-4775-9D3D-9915A65E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28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语音转写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CC6B78-561C-4B2E-99C3-501149B8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4797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7360E5-BFC3-4FC4-8738-F98FEBE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479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85D80D-025B-4820-B8F1-7FA28409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5E2E3B-D53D-4035-BAC2-27DDFEE8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BC6B3E-CD6C-4D49-84CA-BC3173F0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水印与质量检查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59A1DF-FD52-48C7-9424-98510020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B6FD88-8A86-4A74-8792-3EB5607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等待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EA4C59-3995-4934-BFA6-E43652C5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90950"/>
            <a:ext cx="5781675" cy="2533650"/>
          </a:xfrm>
          <a:prstGeom xmlns:a="http://schemas.openxmlformats.org/drawingml/2006/main" prst="roundRect">
            <a:avLst>
              <a:gd name="adj" fmla="val 2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4152BE-9AF0-4678-A450-3E546AF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关键帧与文字时间轴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6A3B3C-EB2A-4164-A2CB-FC6A4904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43400"/>
            <a:ext cx="11811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CEAF5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0CB87C6-B5B8-4993-8559-0C3C3F3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00:12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70E6D1-2554-4ECC-A635-138FC664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43400"/>
            <a:ext cx="11811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9D9C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0CD798-88C8-48B6-89C4-AC4AC9D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095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00:38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BE7627-D66A-4E37-ADB2-C9706BD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11811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5E7E2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876C1A-28DD-4EA5-97D6-6A94C9C4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95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01:06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4611E4-3C96-47FD-857D-B2A38690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343400"/>
            <a:ext cx="11811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6E1F2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07E380-60A1-4912-B475-2779C45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95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01:44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63DECE-B890-473F-987B-A778D3A6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292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8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097611-F176-4070-AA8C-9B229DF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857052-7E13-484D-923A-3236EAD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6B9F1E-C2A0-4D9B-8E9B-6B3863A4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46F4C1-1EFF-42D3-B029-FE7346F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53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0CB59D-7B62-4205-89A4-89B8171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15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01:06 检测到画面文字：示例文本内容，可点击跳转到对应画面</a:t>
            </a:r>
          </a:p>
        </p:txBody>
      </p:sp>
    </p:spTree>
    <p:extLst>
      <p:ext uri="{BB962C8B-B14F-4D97-AF65-F5344CB8AC3E}">
        <p14:creationId xmlns:p14="http://schemas.microsoft.com/office/powerpoint/2010/main" val="1099675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EEEEFC-9422-42EA-902E-52F8FED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E7204-AFDE-4C0A-953F-FC25436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29ED7-ECF6-440E-82FB-E3C4CACD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142C6-F126-498D-8626-6E71279F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37384-5D8E-48A5-9C21-DAA9493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4C153-78F0-4AB2-8A64-5328F63C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4EA39-F780-4570-8AB6-C8416071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081A2-82D3-4E8A-BD14-3EBB519C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4BD66-74B9-4CF8-8DC9-CEC32F9A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8F4B6-A150-428F-825E-4554B8B2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9CE6A-1A0C-430E-8416-14DAE73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2819B-E0E3-4566-AA6F-9B3EAFA8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50E6A-341E-4D8A-8BD9-3FE295A7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34315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8A940-61E3-42B0-B3AA-23B58B99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46F55-EDC1-44C6-AF9E-5B658192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6D4DC-476B-41ED-AECF-8195533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07AA3-A9F1-40B0-9131-D5535F4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51F24-A6E2-459B-B699-C9EC14CA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1D958-FECE-4383-B4CC-0D81926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38C97-35F2-49CD-B927-B1FE7AE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44836-1BF3-4E90-A0A1-97D43E7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AFDE0-533B-448A-B95F-206FDB6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02681-1371-466F-BD1E-1F22C646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37D9E-F213-4E85-839E-4725C16D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67B86-5D13-4909-BF20-695EF3A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F1785-EFF0-466B-91D5-3422FA0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9BF06-6B82-4E41-9B2E-CC8D187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76FFA-E224-4FFB-9FC7-93EEF2EE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058031-ACAB-4C59-A639-2FB9AFE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DFA52-9951-4966-947E-96789400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F0404-6D98-4E17-B1BC-74BFDF1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92FC9-AF01-45BA-ACDA-BB0EFFD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多模态风险识别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FE5934-A067-4E04-913C-0E286D9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综合画面、文字、语音和动作信息，定位需要人工关注的内容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1DA77-E405-4388-AC65-9D401929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3187D-C27D-4C9E-A05A-647927F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831997-9778-4F35-A03A-D9FCAA0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9D6376-EE2D-4282-9D3B-E84E5E80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24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综合风险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95CF17-0B07-43D6-AFB5-2912865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较高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841499-4E08-4704-BFC4-C8486D22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04FD9D-665E-43C9-BE92-E72A28EA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识别类别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6405A-38E2-4C2F-9841-8BAFC524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rPr>
              <a:t>3项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BA2500-5386-4788-8067-8D20771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6C1A4-A5A1-4302-BE3E-23388F4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重点片段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1C0B5B-A849-411D-AD37-138A5A7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335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2段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05C3F7-25A3-46A2-A30B-E704ED8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92417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5A5217-BACD-44FF-8CB5-71B9ACC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处理状态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20C0C7-4FF2-410F-BE15-65AE222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待人工复核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DB1DB0-BD85-4EA5-BD67-2260E6EE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6191250" cy="3981450"/>
          </a:xfrm>
          <a:prstGeom xmlns:a="http://schemas.openxmlformats.org/drawingml/2006/main" prst="roundRect">
            <a:avLst>
              <a:gd name="adj" fmla="val 1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79CF3B-6615-4737-8C14-38729D6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955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风险时间轴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000859-5FD9-4AC4-A96D-7CC997D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BA9166-5257-4258-A178-8B08811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1047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5AEC9A-677A-4C8E-9910-2AFF6963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1257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9D4702-0548-471A-A5FC-81D086A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A57BB5-74E2-4925-90F5-C4101E7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00:30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34F85C-974B-42B0-8790-5F644D1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8670AE-C8DB-4733-992F-B52D735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01:30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D1F4AC-160E-4A09-A24E-4C1EC87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02:00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06F128-2179-405E-BAAA-E896B1D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重点证据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595256-69D1-4978-BF4A-CEB58E8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38600"/>
            <a:ext cx="176212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9D9C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C0EA5B-19D0-4D94-B3C3-54BADAC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38600"/>
            <a:ext cx="176212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E9F2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EAB228-F80E-497D-A782-32DB325B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38600"/>
            <a:ext cx="176212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9E2F2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9745C3-1E7B-4D41-B306-2C68128E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197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00:38  画面与字幕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E4F360-18E4-4851-A308-72E0C0A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197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01:06  语音内容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B6E818-3BED-4AED-B976-2982D0CF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01:44  动作事件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CA5D08-02C0-4275-8917-C2602405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3286125" cy="39814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F1534B-B409-4C48-B6D4-8739B60F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95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风险明细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C16212-9C34-404D-9991-A74D4051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905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5B03E8-3E45-4AD3-B2DA-0EB0925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风险类别A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0BEE19-5CEB-4847-BED5-B0FF879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9085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8B25F3-A374-4ACA-893B-C59E25BB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908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D6FD27-B9A9-4C11-A1CF-F93A5444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289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01:02—01:18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1483FE-6F30-4134-9933-FB961A7C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905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F8C9DF-5428-43C0-831C-FA6B3A3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风险类别B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90888BC-F8E7-4681-A570-80A1F6E8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3380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A6DB1A-B86E-420C-900E-70494BF6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33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CF4255-99CF-4A3C-B395-7163F1F1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00:34—00:48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76C746-2BD3-4327-A67F-2D502C99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905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D4EC19-DC9F-4AEE-BF80-1CACDD6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内容矛盾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D552E0-7E13-4642-8F32-CC0F831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5A2EE5B-C3A4-4A3B-A9A9-B91EE66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rPr>
              <a:t>中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710D68-8D70-4C4D-A3CE-5F0D817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14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01:40—01:52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9E12FB-09E9-4243-B28B-3790617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95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系统仅提供辅助研判。当前结果存在模态冲突，需要人工确认。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B6B97C-A164-4080-9109-74BAF174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848350"/>
            <a:ext cx="1333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4B8B48-08C5-42ED-AA78-72DD19F6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848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查看全部证据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2F3F79-E568-49E4-8D2B-005B650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8483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05B434-D45F-48AC-9566-1A632374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848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进入人工复核</a:t>
            </a:r>
          </a:p>
        </p:txBody>
      </p:sp>
    </p:spTree>
    <p:extLst>
      <p:ext uri="{BB962C8B-B14F-4D97-AF65-F5344CB8AC3E}">
        <p14:creationId xmlns:p14="http://schemas.microsoft.com/office/powerpoint/2010/main" val="126664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D2E63F-B92D-495E-9D08-9F368955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4E8CE-ED16-448A-842F-FBE913F8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57F03-9A2E-466E-834D-C2E07E9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DD001-D35C-451E-8170-A3A3178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7C93D-2F15-4AA4-8404-FC90B229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527AA-7F21-4E61-BD33-482B193F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DC06D-8B9A-4BF7-8C7D-7CC6D04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50615-4267-4143-B9B2-932EC8AB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DDAB3-09B8-4015-8B54-AC8B9BF1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BD7F4-2CFF-4C77-B603-9C44C17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27915-D4B8-466B-B59A-198B7BA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2254B-BA4F-45BE-B814-184C5E5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4ED20-301D-47FB-BCA3-068C458E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2D3AD-7FA8-4238-8420-2C1EF5E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4A023-0B52-49C3-B376-6E5FF9D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9082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55379-BCB4-48F1-A8E3-EDFB5EC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9EDDA-46A2-4D7B-99FD-A489DB9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59E53-E1B1-4BDC-8BA8-696A03B8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46960-370F-431E-AF81-32C2451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518BF-1ECD-4833-A5BE-9033F65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EB231-F237-4DE8-8BB7-28063509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FB5A8-F866-4D81-9E52-074E7A0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37CF9-F4B9-4A6E-9A75-FD5F282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18B15-A456-4EA5-BBAA-444B157F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0D7C9-B5EC-4E9B-9DB3-7DEE9C0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572D2-A876-45E9-8007-F6F4160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E67AC-0E8F-412E-BAAA-ADED2477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C8C2A-74E2-4A86-8B66-6F133CC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D2438B-C5F1-49F4-91EE-65D7C55B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66CE5-5FBC-48E0-9242-CB1D9A5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36E39-013E-41DF-8C6C-51481DD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FAB65-DCB8-44D8-803C-A8FF410D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篡改与深度伪造检测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6FDA3-2C4C-4FAF-8520-9AB7C6E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标出可疑区域或异常时间段，并展示可供复核的判断依据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5E1A5A-234E-48F4-B198-C719F1E2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2E35A-5CDE-45E0-A266-6A81DB62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F6AA75-B9F4-4B76-8488-EB13E7D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6000750" cy="4895850"/>
          </a:xfrm>
          <a:prstGeom xmlns:a="http://schemas.openxmlformats.org/drawingml/2006/main" prst="roundRect">
            <a:avLst>
              <a:gd name="adj" fmla="val 1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6C3A17-AC54-4913-B825-FB332131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图片取证视图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7CFE4C-17A1-42C7-9E8F-A52A8094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5619750" cy="3067050"/>
          </a:xfrm>
          <a:prstGeom xmlns:a="http://schemas.openxmlformats.org/drawingml/2006/main" prst="roundRect">
            <a:avLst>
              <a:gd name="adj" fmla="val 1863"/>
            </a:avLst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D6E7E6-144C-4CA2-8DEC-F9B62E7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2019300" cy="13144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777141-47F1-438C-9CBB-958CB38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疑似局部拼接区域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CAC0D7-BA8E-409D-94C1-9E1765D0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19700"/>
            <a:ext cx="1190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4F0A4-BE45-4F89-A630-0F01C5B3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197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原图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6A0E86-F283-46C4-A633-F1F9ED5E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1190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BCD367-F803-4584-90F7-D5F3EC2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噪声残差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3944D5-37D1-4D13-852A-3E7DFC31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9700"/>
            <a:ext cx="1190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467C76-050E-46A6-AB54-E5CD856A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97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边缘对比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0379E8-8239-4C0E-A2A7-A0D873E3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B7B9D4-BDD4-4D9F-8F02-F7253963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压缩痕迹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E670B4-5455-4FBF-B285-E9AE0B7B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673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拖动透明度滑块可对照原图与分析图层，点击红框查看局部放大。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FC8755-5CC2-42DF-BCED-6267CE2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476625" cy="4895850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40E451-B0D6-4FD7-BEEE-B7FEB26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检测结论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A8D51B-B572-4DC1-8CAF-A652254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7A1B17-AE63-4812-A600-2D149671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疑似篡改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DE40D3-99FC-4116-A0A7-30042B4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可信程度  0.87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C1F348-91A9-469A-B58A-86DE058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可疑类型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CEF2D4-BA81-428F-82D2-A267C16B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9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局部拼接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BF9806-DF47-413A-B3F2-A998BAEC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289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27413F-481D-4C35-9F52-0D46875E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可疑区域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D42297-83F3-4584-BC75-F29AB35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画面中部偏右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47FFDA-23DA-42AF-9BAA-75FE798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242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2AE839-6F09-41FC-BE5F-B0B122F7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主要依据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73F07B-E588-4935-A9AC-A5EA2F0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边缘与压缩不一致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2187FA-ADFA-4829-BF27-4916FF6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310EA8-8467-4654-824E-4E1F7CC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拍摄信息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1EA30D-38A9-46B4-9693-A6CB894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部分字段缺失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1D87D7-6E3F-46A7-9D72-0BB07BFF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148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9DBF3A-9A44-4E52-A0C1-087C1370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证据状态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DD399F-40BF-4859-81C0-B405D39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建议人工核验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29B311-D037-45D4-98E2-A945F12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01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0A3AB2-67B9-4F9C-BC18-5D79679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000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2D29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EFF846-EE8D-408E-A84B-5D1903E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19700"/>
            <a:ext cx="2695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素材经历过二次压缩，系统已降低结论强度。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178F0C-C7C3-40CF-97C8-C4CB0AE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43600"/>
            <a:ext cx="13811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949DA0-783F-417F-96D1-ADA2DB23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436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加入证据包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370AB8-7C62-4493-A909-679532F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43600"/>
            <a:ext cx="14573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F0B696-9871-47B2-BE85-5E349069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43600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标记人工结论</a:t>
            </a:r>
          </a:p>
        </p:txBody>
      </p:sp>
    </p:spTree>
    <p:extLst>
      <p:ext uri="{BB962C8B-B14F-4D97-AF65-F5344CB8AC3E}">
        <p14:creationId xmlns:p14="http://schemas.microsoft.com/office/powerpoint/2010/main" val="720756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7887D6-1AF9-4CCB-ADDE-2BFF307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0B6AC-8E0E-4177-86B0-F87A260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A57C-2FAB-48F8-BA00-1046B8D6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04405-66D6-4D2E-8D44-E2E75A0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BB073-9A9F-47A6-B443-C9D3E167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461CC-5329-487C-B844-621B546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278A2-CA65-4058-86D5-10ABC78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B9B8B-787C-4DBA-A34F-5EC82DB4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970F-E6D6-445E-987A-39B7F5A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BBBE0-DC64-4CFE-814B-40727E3B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92DB-ECCF-4055-8689-38E6501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543C4-AAFF-4C74-8BC0-94449A8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896DC-AC1D-484F-AB6E-07DD3BC7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06D47-0F25-491E-BF9C-EA094969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8204C-7825-4CB2-BE7C-26B42F7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B3457-8576-4D9D-AD5A-B8B194F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586EB-765F-4503-B6A1-2DE58A86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23850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B3785-7D8D-45A8-8F1F-542DD64C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671C9-2CEE-4634-9B9D-3CE31E30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31D71-010E-491A-9000-CE1D9034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9628D-0BD1-4FF9-BB6C-F5961C4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47610-4910-441C-8479-620F8E9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02193-8F54-45E2-9E9C-5EC1B015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336CA-2724-45BB-B35C-33732BF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FA688-0DB1-4D53-BD47-3CEA990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4BAA7-1AA2-427A-B481-F5C82AD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DB4B9A-37C5-4A40-B156-4EAE6A9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4EDDEA-BF3C-4B31-95A6-6D58403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B7D69-6DAB-4525-8426-165F8567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4E198-2547-49D5-80B1-BAFA1B3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160CB-7824-4597-8687-7F938714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85D422-E32C-408D-A59F-5D57039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图片同源检索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6F034-C776-46D1-B7CC-3E178BE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支持整图和局部框选检索，区分同源复制与主题相似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29C03C-9F31-4C00-9EF9-5724C8B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2B185-3AF8-457A-83D7-5E2A7A9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00EA7-F0CD-454C-9203-C74665FC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2857500" cy="48958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DC184E-CF08-4338-BCA5-05F8792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查询图片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60E41-E11B-458A-8B55-45F4CCE4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81200"/>
            <a:ext cx="247650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DDE7E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C49C3-882F-4FEF-9C97-3981613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1143000" cy="876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74C85-341A-435A-BAF8-9252DE4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框选区域：人物与背景标志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823A1E-F283-4447-A93D-B49DAE80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10100"/>
            <a:ext cx="1143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84EBF1-E83C-401A-A083-E8D05F7C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10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重新框选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98F3EA-520B-4CD2-8F10-187ACC7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1143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964A1C-CC23-4F67-900E-59B5097D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开始检索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C84B1-7D2A-42C4-86CF-1B2D224D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43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检索范围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DF6503-723B-4C3B-8707-D8E4BA7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530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C23C2A-E3F4-4EA9-9AA1-0733A8A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53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全部授权资源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E5CDFC-3D35-4FED-821C-549BA89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102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7AFD3E-CEDA-4A7D-A070-7D173C93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102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整图检索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059CA0-8917-47B6-915C-09D386B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102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37FD61-8C6B-4D0B-8CA6-A682EA8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102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局部检索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8A298D-60AC-43E7-9AFE-7F21BED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6619875" cy="4895850"/>
          </a:xfrm>
          <a:prstGeom xmlns:a="http://schemas.openxmlformats.org/drawingml/2006/main" prst="roundRect">
            <a:avLst>
              <a:gd name="adj" fmla="val 1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ACB151-2C8F-4370-91F5-F692AFA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候选结果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7C8555-6A70-4AFF-8678-E7648F5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81150"/>
            <a:ext cx="1095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0B63D-AFCF-4886-843F-C7F47218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811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共12条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26E569-F954-4431-AC63-68C26D54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6238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F01E77-521E-444B-A61D-302CEA95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33600"/>
            <a:ext cx="1143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9E7E4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2E2AB6-A2E7-4A31-AE96-CEC155F3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来源图片A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25FA97-7B64-477E-8232-F6DC938F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EA99C4-5AC4-41C1-B31C-332E44D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高可信同源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94F402-62A2-4CA0-B3B7-906B8066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变换关系：裁剪并加字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05AF21-C469-4ADB-B721-37BD7F77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431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0.94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5A3E96-2B68-44C3-BEDA-BF01E3A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9E7014-B40A-4D98-800A-5B2A0AD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查看对照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40E023-E2B8-474A-888C-41155B8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6238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4BE919-1AB5-4D01-804B-8DB2420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1143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DED8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4A3767-8C91-474B-B6E3-5B195E73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来源图片B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0C1DC0-8305-465D-8D91-83E1329B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4EE250-59CD-43BC-B1D5-2D8821C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高可信同源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C3B905-FB2B-4657-8184-12540839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变换关系：旋转与调色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640872-4A19-412C-9089-40C1698C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0.88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C936B0-50A3-4FF7-8A97-8DE50D5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14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0F2CDD-E377-49F5-AA7A-1C27F5C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14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查看对照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97CE4E-036E-4B6C-93A5-306869EF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14850"/>
            <a:ext cx="6238875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1CC3AB-AF3F-46D3-B20E-985B9F6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48200"/>
            <a:ext cx="1143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5E4EE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C36CFD-0EB2-40BA-84F0-07FE7FC2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相似图片C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F697FB-D9C1-4F8D-8014-F209CF6B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1010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5C288F-A7A9-4105-92C5-0193F404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101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主题相似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9D8BC4-3ABC-40E5-8ABF-A5AA53A0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434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变换关系：无几何对应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4B8B0D-D1E1-458A-A20B-DC01B9D8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0.63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4B4324-7574-46E7-A321-77009CA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387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77AFB7-05B6-4836-8893-FBC69261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387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查看对照</a:t>
            </a:r>
          </a:p>
        </p:txBody>
      </p:sp>
    </p:spTree>
    <p:extLst>
      <p:ext uri="{BB962C8B-B14F-4D97-AF65-F5344CB8AC3E}">
        <p14:creationId xmlns:p14="http://schemas.microsoft.com/office/powerpoint/2010/main" val="770798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D7FD57-D0DF-4DB1-8954-DFCCE40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A7C69-5157-4D23-906B-33EE50D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B91F1-B889-4D80-B28F-CB96232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CA8D4-3793-4BD7-B1FA-BF350D03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62F89-0C91-4859-98DC-772B4464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AB550-2596-4AC0-90A0-65B2DC2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FA00D-38B8-4D24-B74D-F213CEA6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C447-040B-4153-A64A-FB14FAE5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5594E-D7B9-461E-A257-5A3706A7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02A64-B425-4B0A-AA37-18972D6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F303B-CA2B-46E8-9827-A0E82B8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7E4E1-1F48-4BDA-A990-3EA232A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1FA88-61D1-4091-9796-D323D650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F089D-7C81-42A3-BBC0-FC559282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D9E5A-825E-4830-9CBE-3D9A6DA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F469A-299C-49FD-BA09-978A08EF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B38F2-4860-45E9-9D34-68188856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5F093-3278-4987-8C61-9484680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56877-F45F-45E5-A99F-B64D185C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8617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BC0DB-4B8D-4E8D-A8BC-81CD315B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2AA25-2DF9-4147-982B-00FE155C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5C2B0-4CFA-4A92-9C4D-0B80742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E55EB-8F67-4B6F-A974-D180CFC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E6546-D610-4A1B-8E92-6380C7B8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D5540-33E6-4E88-BA92-CB82D684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0D7E8-03E8-4F8C-ABEB-B509A13B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84200-C532-473F-A316-195DC42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468EB-8ABD-4FCB-B437-ACBF039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9AA27-936C-4547-8162-613AFF9E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0AD5B-8E38-498D-B458-5606BEFA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4755F-CB96-4ED4-A732-29FB748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52566-E7D2-42B9-8ECA-E5CEAC9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视频同源与片段溯源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22255-1276-4849-949F-60B0941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定位查询视频与来源视频的对应片段，展示变速、镜像和拼接关系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7B30F-B348-4175-AEE5-3A0E5247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3DD71A-BFAE-404D-868C-ACC241EA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A9A21F-CAD4-4937-81D3-74AB0A6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9667875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D93AFF-4164-4C54-8675-8B289DC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片段对应关系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CE9282-0A5D-4211-AAF0-AF22489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查询视频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909A7-6DAF-4C50-8F2A-3876E090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781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E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1EA99E-6E71-41E3-A243-F5B7F69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2476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40CB2-4CEE-4D19-BC37-26C0DF9B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D48745-B403-4576-BBFF-CE1418B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81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候选来源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5008CA-5BBD-4916-924C-57404C7C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781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D8197F-582E-4BAD-92D0-8DBF4E9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B3EBA6-7563-4AE0-9904-06BD8ED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13811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57C7"/>
          </a:solidFill>
          <a:ln xmlns:a="http://schemas.openxmlformats.org/drawingml/2006/main" w="9525">
            <a:solidFill>
              <a:srgbClr val="7257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C5F2BF-B7EC-416B-A025-E92A367C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638175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C360BF-B379-46D0-A193-6352FE4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同步对照播放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63CA7D-88C2-436E-A189-EA794F5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43300"/>
            <a:ext cx="2857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8232F"/>
          </a:solidFill>
          <a:ln xmlns:a="http://schemas.openxmlformats.org/drawingml/2006/main" w="9525">
            <a:solidFill>
              <a:srgbClr val="18232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FDCC03-91CA-4AFC-A44D-F18C5CA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2857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8232F"/>
          </a:solidFill>
          <a:ln xmlns:a="http://schemas.openxmlformats.org/drawingml/2006/main" w="9525">
            <a:solidFill>
              <a:srgbClr val="1823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58C390-DAE0-4CB2-8E3F-15BFE4AC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查询片段  00:38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0C7EEF-5111-48B5-988E-22F1EF0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来源片段  01:12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071B1B-0971-4468-ACF8-C2E16E1D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1FBA9E-8555-4F66-BF86-A47C0215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同步播放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F1166F-0BFF-48EF-9FA3-9C52086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149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2C9D85-05BE-470C-A1BE-5F99B52B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149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关键帧对照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C627C1-D93C-493B-91B7-B96F7D9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340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对应关系：镜像 + 1.15倍速，片段覆盖率 92%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154568-4ABC-4161-9198-7C6C2E1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3095625" cy="33337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644915-7091-4822-B9F0-BB5C456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候选来源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DEF17E-AF80-4D7E-AE09-C6E8D859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146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E2ECE1-394E-4B6E-BB79-4C3D215E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来源视频A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1C1BF3-D356-49EA-A17C-59007B1A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76650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75B795-4155-4362-A48A-E45A2001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766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高可信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A981B1-44FD-42CA-ACF1-378038E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覆盖率 92%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8D2414-4DAD-4C0B-909E-1F28F02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27146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5007EA-14D2-44F1-AB19-9040293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来源视频B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63A452-D4A4-46BC-939A-653D1CE4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9600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3B1C81-9ECE-4C86-9D91-166B5993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96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中可信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B54382-847C-45E0-A8F9-17872620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577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覆盖率 61%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543EE2-EE3B-49E9-9D9A-FFADAF88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86350"/>
            <a:ext cx="27146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2036E7-1282-426B-88DA-48C10490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来源视频C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C3A554-BFF1-4806-AF53-F7BA7E68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62550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A6F22A-887D-452E-A828-1844FDE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625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待核验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2071FE-2228-4138-A773-AD7C370C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006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覆盖率 34%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159AB1-9C6B-4884-9D5E-61631B0C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924550"/>
            <a:ext cx="2714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DDAA8D-64EB-452A-9C85-AC30C344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92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查看完整匹配报告</a:t>
            </a:r>
          </a:p>
        </p:txBody>
      </p:sp>
    </p:spTree>
    <p:extLst>
      <p:ext uri="{BB962C8B-B14F-4D97-AF65-F5344CB8AC3E}">
        <p14:creationId xmlns:p14="http://schemas.microsoft.com/office/powerpoint/2010/main" val="2050843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D23B43-C264-4F4E-A191-5401165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C9031-9F4C-4209-AA0A-FCFD7CA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E6970-63EE-44FD-B6BE-F074BE35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944C8-872A-4C3D-8B23-6F29FD2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22A2D-43D4-417A-AB12-224D329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9CE21-E727-41D9-BBBC-60E9B76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42670-3F9B-4FB1-BDDD-3F89FF6E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17AA5-3E76-47B0-8CF5-278910C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CE3C2-31D3-48E7-805F-27CBF0E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3012E-2535-4EED-9C42-29F00A5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A5712-A5A0-4839-B5B6-38969ED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905B-E775-40CC-BDB1-2604E57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3DF87-DD06-4A6C-935C-8BAC811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0954A-651C-49A0-970B-E4E79A0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F18FD-8243-4F6D-94CD-EF91B10C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C7DBB-7F9F-4B7B-9BC0-05E1057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A3649-1E4E-4DA9-9CFF-4F75C08B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4BD65-EAF3-43F0-86BC-F4C261CF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C99EC-0E43-4D56-9D81-78AC3D30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385AC-FF44-4FAC-A494-50AECA1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ED61A-2C2A-4FCA-8F39-29B76B2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13385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6C658-8471-4B75-B0C9-F2CE487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1AE10-4A0F-4C67-8977-D844555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29E07-3E1A-480F-8AE1-B1FDF27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ACCE3-F1B0-4375-8504-30383B0D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615E9-3DF0-400D-AC9E-D9F2286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BE30C-DEDF-4ECD-B05A-A74AAEE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EF900-7DA4-4F98-85BB-60E10E2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9F48F-77FF-4ADC-9218-EF81E36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02523-D27B-4870-915B-88E8F74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06543-ED69-455E-B5AD-BC68150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C20EEA-156E-499C-A58E-949041D8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首发候选分析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5434C9-1F98-439C-ACA9-85032A7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在已确认同源的素材中比较发布时间、完整度和版本特征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21260E-A4B2-4173-9E4F-AE102759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57C31A-8287-44E4-8FBF-15802252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83698-EC57-431D-9D4D-2B37340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9667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2D29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96542-5A25-46F0-81CB-2F11789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43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分析说明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AE78C-7012-4564-B67B-A741171C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907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以下结果为首发候选排序。采集范围不完整时，系统不会直接认定原创账号。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848C3D-E677-44A9-AD38-BBEB1B9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19350"/>
            <a:ext cx="9667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4DD172-457E-4754-AB96-58CC03B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57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4CB26B-812C-4839-ACAF-E193D08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574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DB67D9-5075-4CCA-95CD-B8CD9A9C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平台甲 · 账号A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CD9CAD-4A56-4F96-A999-41CAB75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289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发布时间  10-02 07:48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1591D-F753-40A2-B939-166DA20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9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完整视频，无二次水印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AF9F65-725D-41D2-BFB1-696F0446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支持：系统首次发现时间较早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0FF31-6553-4B4B-A797-5C0505A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0.82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8DA9E5-3679-463F-B0B0-C2B497D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综合可信度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709B07-A282-4576-8002-7F4296A8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9667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4C36B6-741D-4CD8-9204-D8FF29B8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24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545768-BEE3-4598-AADB-E3AEAAD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242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CCC479-673D-456F-8E9B-1647D679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平台乙 · 账号B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91D7A0-5F24-4CF8-A197-440E062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957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发布时间  10-02 08:03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436A54-E849-4DD0-8A09-1A827AC8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画面完整，新增字幕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F99140-E3FF-4A56-826A-3A14E55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43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反对：存在后期编辑痕迹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51AFFB-54A4-41EF-9EF6-6A277872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0.76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BE173F-F39C-4758-88B6-BC35A106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综合可信度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D13113-0F74-4BE1-B842-BE0B0CA8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9667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420E33-E849-4B5B-A78D-EED66163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910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F80E93-4E3D-46C1-B8C8-D6AC9CFE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91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AFF2F4-B1CD-401B-A8B8-6138C7F4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平台丙 · 账号C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41EC5E-F42B-4BE7-B666-A926A80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62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发布时间  10-02 08:16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3AECB5-3542-492D-8059-7A9C83C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2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片段较短，存在裁剪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1CC253-04D4-4AB7-A6B0-2DD57D3C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1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反对：存在后期编辑痕迹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634F58-DA94-4C8C-A669-152AFDEC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0.58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496AA8-235A-428A-ADFD-97C698E4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综合可信度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2FBBB-167D-448F-9677-2E4F79B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34050"/>
            <a:ext cx="96678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0E000F-6366-4105-96A3-88D8B75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102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Top-1与Top-2差距较小，建议核验平台原始页面和发布时间证明。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2C7844-A1F6-40EC-B967-092CE39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67400"/>
            <a:ext cx="1638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89A998-42AD-4B7D-8150-81C9CB0D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674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发起人工核验</a:t>
            </a:r>
          </a:p>
        </p:txBody>
      </p:sp>
    </p:spTree>
    <p:extLst>
      <p:ext uri="{BB962C8B-B14F-4D97-AF65-F5344CB8AC3E}">
        <p14:creationId xmlns:p14="http://schemas.microsoft.com/office/powerpoint/2010/main" val="9620758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2AE427-C4B3-44D6-89FB-63364E19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E95C7-62BA-4366-89BB-EF2BD6CE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1B5EB-40CD-4C25-955D-FABDC0C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35065-5323-4077-A023-0EE6276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EAED6-6613-428A-B1BA-E914782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84FE6-A3E5-4B6B-A659-6925225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52850-A01C-422D-82E9-9B4D24E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B3907-903F-4FF9-BD7E-AD11974F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24523-C26F-4E0A-BE80-455BB60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BD786-C857-4EE9-9BC3-04F2379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1A875-718C-4C0F-BB69-D5355E31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08959-CF4B-44D3-B52E-82814EB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4DA61-9B21-4BC9-A800-016406B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1E9C0-76DB-4B8F-87CF-0A033BDA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C678D-1B6C-436E-9B11-A687B9D0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2057C-63DA-4F2B-A835-089B17D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161D7-DEF2-4E27-B55F-6C72279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C9363-939D-4730-A4C0-3E2A00AD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870CA-780E-4596-B672-FF8FB4B9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D817B-E145-42EF-9D73-09E322C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6EA8E-8923-4EDA-9E85-A97AF469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DCD55-C0A6-41DF-BDFE-981DED7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E4D3F-4E3F-4CB1-B4A0-86EE751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8152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6D1C9-D5FD-4A08-8FD4-97B2A3E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4E67C-35D8-45F2-A17B-6777599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C3537-3B6F-4AA0-9ACF-4DFCB28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E066A-100A-49CE-94EC-F1EBB5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35829-CB1B-483E-98E7-C597C65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8D97A-67D4-441E-BEE9-44FE8105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BE09E-8E47-4D66-9E0A-D0EECA2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76DF1-9E2A-47A6-915F-0BA33CA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B9A4C3-C1D9-43FD-B62C-9D0479C7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传播路径分析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827A5-E9B8-43BA-876A-51BD3DDA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以时间线和关系图展示内容在不同平台、账号和版本之间的传播过程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6102B-2A45-4BDE-BB99-FC14EB2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DC422F-64AB-4DAE-833F-C0D564D5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336FDA-7F56-40B1-94D3-D3725172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7239000" cy="4895850"/>
          </a:xfrm>
          <a:prstGeom xmlns:a="http://schemas.openxmlformats.org/drawingml/2006/main" prst="roundRect">
            <a:avLst>
              <a:gd name="adj" fmla="val 1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857443-2589-46F9-A68C-E99FC1AA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传播关系图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D48E41-6EDC-4F23-B1E3-311AD5D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1BBCC-CAA6-42C5-817B-4896D66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时间线 / 关系图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B26B2B-7EE6-445E-8B5C-E67D2AD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1750"/>
            <a:ext cx="1285875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4EED47-4EB4-4673-9CC1-A27D96F0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13335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26EE12-E47D-43A5-9735-B3E5949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171575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AC6962-2524-4696-84FD-22080A9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4325"/>
            <a:ext cx="1409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8C16DB-D7EB-48D6-A86F-62CFDE5E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14625"/>
            <a:ext cx="885825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2A0B15-AF4A-45C1-B9AB-827962B5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647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FC3D4"/>
          </a:solidFill>
          <a:ln xmlns:a="http://schemas.openxmlformats.org/drawingml/2006/main" w="9525">
            <a:solidFill>
              <a:srgbClr val="AFC3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66B1F7-2556-480F-94ED-020BC7D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14F88-7F7D-4138-A925-1DC02E16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账号A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54FEDA-84B0-4516-AB36-E3116EE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07:48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3FE18D-084A-4CB5-96B2-765EB757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BA4EF0-3EFD-4F2E-9606-C0D2E8D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账号B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8F5E09-9D71-40C6-AB3E-55F32905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08:03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BC0C6E-9CC7-422A-88B2-BB0468A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4392C8-9240-4FF0-8539-897DAFF3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账号C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39683E-8A21-44E3-86BF-52FF5CF6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148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08:16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397ABE-98E0-44E8-99F6-6CDB6F13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C7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1E3204-4330-4431-B5F9-F565367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账号D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DC2227-7638-47AD-AD0F-3AB5AD7C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08:35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D37C41-90A0-484A-8A64-310D5C42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314FE1-F604-4F0A-AB91-3235712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账号E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A710B2-43AE-44C3-BAA5-D9409C9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09:02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405CF4-B5A5-4ED3-9C2C-F79F8FD2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C49B8A-25F0-4F45-9BAF-9D2F9E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媒体号F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54923E-2EF4-4C21-8B76-08FE9B5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671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09:40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4F9BBB-D511-4004-858A-1693E26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实线表示平台已确认关系，推测关系需展开查看同源、时间和水印依据。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4FCB7A-5AB3-4E83-ABB0-A248BA84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28750"/>
            <a:ext cx="2238375" cy="48958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BDDE28-A6F9-4006-9F2D-79840540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81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关键节点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28A2CD-B8E6-4938-91FA-A6418667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38350"/>
            <a:ext cx="18573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A1D1A3-FB7E-42C6-9FA8-EEA8C42B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D28041-37B6-4C10-90C9-2BA7041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145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账号A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C1AA39-C36E-4713-91A3-6DBC6E3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最早发现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56D769-95D5-4BF7-8164-35175C6B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81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平台甲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DDDABA-5AC0-4923-B255-7C3E9AC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18573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3756C5-3E23-4827-B1D0-80CCB7E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C7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3495B3-FA2F-4543-88DD-A524ABEE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670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账号D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F094B7-BEE2-4FB8-AD4D-91E4A4A8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传播加速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04494D-E779-430B-BF28-FB069F69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337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平台乙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C4B62E-D49A-49EA-8BB1-514A89C6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43350"/>
            <a:ext cx="18573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7495B2-9A4D-4A02-A88C-5E905AE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B8C420-6FC3-4574-98E4-2526079A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195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媒体号F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E9B297-A912-4DCA-8B39-9EE4E87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86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覆盖较广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A3267B-664C-4BA9-AE6C-A0BA96B6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86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新闻平台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C78395D-26E7-413A-8818-979D2011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1857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20AB17-964F-416A-9C76-00B3F3CA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查看版本差异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8741699-2C2D-4341-92CD-5B5C5706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76900"/>
            <a:ext cx="1857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63520E-8166-4F7D-ACE2-B8CCFB70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7690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导出传播图</a:t>
            </a:r>
          </a:p>
        </p:txBody>
      </p:sp>
    </p:spTree>
    <p:extLst>
      <p:ext uri="{BB962C8B-B14F-4D97-AF65-F5344CB8AC3E}">
        <p14:creationId xmlns:p14="http://schemas.microsoft.com/office/powerpoint/2010/main" val="234837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A9E837-B73B-42EC-8174-E0F1B63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71E71-8FD8-41A4-83BD-704C3518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3E87A-0AF4-4111-BD08-11B6DE8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6908B-D7CF-4C84-8833-7E5D959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53954-F038-4BE4-A4E8-808C78B0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C5BC1-F05E-4904-9A00-EC1516C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6A5D7-2AD2-447E-B817-1B9C2F0D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5577A-3C7C-4783-BF81-1995CE0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7983C-6879-4E81-B524-DF5689C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A84C5-51A1-4311-9101-5BE3D5BC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568A4-C4C2-4246-885B-8C5D351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880A3-0C47-463A-BB78-23F4879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2FF04-EA16-4D50-BD41-F2CA8A1A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A8117-CF4B-4B63-86E8-2E84B2B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83617-2C87-4ED2-9AA0-717BC7D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82684-4DF0-47B1-A46A-9C38DFC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2D091-B2FC-43FB-B25C-DA5560E6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8AADB-59B0-446A-828D-30CAC96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278C0-9A43-478A-9C05-A6035EEA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4B68B-B14D-4FCF-A08F-75DAFBE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2ACCC-4215-4238-9F7B-342204C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80688-1E6E-40A1-ADC2-C75FB6E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CA296-15E7-478A-AD41-5DFADE66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DC429-7020-4E7F-9FEC-FF845D5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FB88B-C29F-4DF4-A589-1FCE3EC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2920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897BD-4CD0-401F-93CD-1AE574C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FD8B7-EB05-40B3-841D-C9B1DE8F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9E335-23D0-473F-A9B7-B04F2C40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30DEB-1EAD-431A-B80B-B543E7EB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D1441-3230-4003-9743-35A6EA1D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64AA5-5FC5-40B6-B155-0780DF67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A9A7F-2C88-4730-B045-2E3FBDF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谣言证据核查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781B4-8FF5-4C94-82B0-A799F521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提取待核查说法，检索可信资料并逐条标明支持或反驳关系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5B167-DAF3-415A-BA6F-35874BE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8B299D-6648-4B04-A2C9-73BE025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32EF0-BFA7-4B43-8ED1-4813DA1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4000500" cy="48958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62E0F9-1165-45AD-B4AF-F5066BB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待核查说法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C3A3EC-4F1A-4B34-B249-8E181D0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81200"/>
            <a:ext cx="3619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769FAE-598C-4343-9B95-7BA2E18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955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“示例事件于10月1日在某地发生，并造成了示例结果。”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15C856-3743-4B02-AFC3-A8D117AD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结构化要素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E6DED4-985E-45F3-BDEB-CE364F9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861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主体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240D1D-6F06-4B5E-9E97-BA66A7F7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2914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5D462A-0FE2-4910-B5F1-A2B8DA0E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示例事件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621B2-E10F-4EC9-878B-DBC0933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86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时间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48B8D6-9CA8-467E-A142-F1544BA6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2914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E32CAB-790D-44C6-A0FE-A8C8C0CD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10月1日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062B9B-2C1D-4A2B-B5EF-6DFC1F9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86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地点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B581BC-F583-4BF2-A391-6EF42EF8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2914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FDEC53-29AF-4A3B-A963-C0DECB2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某地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7C9709-D02F-4AB1-A0FF-595BB4C1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86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ECE10E-BA43-433B-AF60-9178F99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29146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0DE6B0-8ACD-4B7F-94AB-BBC71C0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示例结果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D4E8B9-F064-4BFC-A8FB-70A9822B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BBBFD5-4AC5-4621-94DB-1FF0FD2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编辑待核查说法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D4A10F-4718-46FA-8D8F-704FD0E5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149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5E4C96-A9A2-451D-A46C-0634D3B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14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重新检索证据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CD8ECE-0E5A-40B4-A522-3B65F3B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48350"/>
            <a:ext cx="1143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E3F197-6C2A-44DA-A071-1196B0DF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48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权威来源 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713E9F-F92B-4459-9C2F-BEE24B4C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48350"/>
            <a:ext cx="1143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42CB32-3C38-4F37-9419-CF8D276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848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历史材料  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858FB4-75E2-4754-9D0D-59AFF66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476875" cy="4895850"/>
          </a:xfrm>
          <a:prstGeom xmlns:a="http://schemas.openxmlformats.org/drawingml/2006/main" prst="roundRect">
            <a:avLst>
              <a:gd name="adj" fmla="val 1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3FAD5A-5ADD-488F-9A41-77CDDDD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证据与结论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B480BC-2C14-4C1E-8522-321D0BE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5095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4D3220-4B6C-4335-8D10-2AD1553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官方通报  10-01 21:30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D13216-791D-4652-893F-9802AE7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764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2D4301-6A91-492B-93F0-90E44EC1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764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反驳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D0F918-FCF3-4026-9606-72245F8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通报显示事件地点与说法不符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C762D1-7229-49D3-9493-C6D7FBB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5095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5BFBDF-4E46-4276-A07B-2CF0C9F0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权威媒体报道  10-02 08:10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A01F12-658C-4587-84D5-A481649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432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FFA4F5-237F-48CA-AFDB-9204A96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43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部分支持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B95B41-C523-4AAF-AD6A-89F97AF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事件存在，但结果描述有差异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989D8C-D0F5-4610-8B97-A6AF3ED1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095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D7A497-8E4E-4D21-8D8E-7DE002A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历史辟谣资料  2025-06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D5FEFE-EA67-4931-BF3A-76A2A83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100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20796D-975F-42A5-ADDF-48E5BFE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100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无关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0B5C1C-EA20-4493-ACB2-9BAAD32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内容相似但并非同一事件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B35AE7-D215-4379-AE1B-F83FF35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14950"/>
            <a:ext cx="50958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1B7B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50D3B9-3707-4F65-B6D3-27C6F74F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91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D64545"/>
                </a:solidFill>
                <a:latin typeface="Noto Sans CJK SC"/>
                <a:ea typeface="Noto Sans CJK SC"/>
                <a:cs typeface="Noto Sans CJK SC"/>
              </a:rPr>
              <a:t>当前研判：主要说法缺乏可靠证据支持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8F312F-A562-4C5E-A6B5-D8F84B0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57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每条结论均关联证据编号，可进入正式报告。</a:t>
            </a:r>
          </a:p>
        </p:txBody>
      </p:sp>
    </p:spTree>
    <p:extLst>
      <p:ext uri="{BB962C8B-B14F-4D97-AF65-F5344CB8AC3E}">
        <p14:creationId xmlns:p14="http://schemas.microsoft.com/office/powerpoint/2010/main" val="810963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4340F5D-2A2C-4013-BA80-429D59FA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796BB-A25D-463F-8114-70B77A1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43EC6-5C4F-4EC2-91C5-524753C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96772-7389-4CB8-B2F7-B7F050F4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59753-81FC-4594-8CF4-B712CB5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48F16-0334-49D1-B9C9-806607A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614BB-9ACD-4121-A3D8-D7AAD95C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80ED5-82ED-4E7C-87CD-01B76613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019D7-22F9-4D2B-9D2F-356523D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D9D94-2403-4464-8F1B-A9DE1CDD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B8665-9A99-4B06-9A18-174B93DB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DC37E-E1AE-4813-9B7F-434E49F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6DFD2-BC90-4EC4-B52A-38C4404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DC5CA-C7C7-405E-81A2-AE10230B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4289E-8628-46F3-8D48-40794CEF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A33C3-6687-45E2-875E-9E545BF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56234-244C-4523-B3D6-A8828E6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C8FDC-D37C-4DDA-A02E-107B4B0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4515C-49AC-4125-9B1C-F3BC36C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CD9BB-38F9-40BE-9870-6D728EDA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A0F69-AC5B-46DF-8FEF-CC7F995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B8D5F-A1C4-4D90-A1E4-324FFE5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D7ACF-8F6E-4118-B91F-8343930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56B6D-5D73-41D4-BCE5-677E9C24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9A01B-B02E-4AC5-B337-C070681D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A09E7-33C5-405A-80DE-098CAF1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67A2D2-9335-4220-A053-5BCBBD7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476875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B790C-8C6B-47BF-BD46-7542161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FE286-B9DE-4016-AFE5-FC07F944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15DB8-E42B-493A-88A9-F25AEF5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A8C990-100B-4F79-97EF-D4FD7403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A381D9-0CC3-43EB-A09F-17ABA0E9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审核与证据管理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F2E6B-4288-4122-8BFF-F318F486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集中查看机器分析、人工意见和证据材料，形成可追溯核查结论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A179B5-10E3-4286-9417-EDDDD586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BD0538-317B-41F5-BD88-FCE98BD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C9A547-C7AA-4F64-8C4E-2C2302C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2381250" cy="48958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C1E4F-FF2A-4DDE-8647-76A9BB7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81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审核流程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3CFA4-DC4E-41F8-B9BC-341BCB6D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16707D-32CB-4E6E-BC1D-D636B00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38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2B3A3E-9B69-4C63-8660-9472760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19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机器分析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7ACFF7-3F7C-493A-8535-91342CE3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764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39A7E8-C74F-4788-996C-0DF2D8D0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E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0CCFE4-A254-48EC-B3A5-7AC7F83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BF1F88-39BE-43AE-9BE4-2172103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43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16F6CD-771D-4BDF-838F-56943481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初审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1B1DD7-9075-4388-ABE9-C9A35AD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81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A492B3-B091-4722-BF32-97D12BA6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ED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E8B558-FF0F-4BF6-8124-166654EF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48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812419-D1BE-4706-82E9-349D59A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48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9F4886-782C-4FE4-A672-953FE80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复核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1B273E-B9D2-410B-9F02-FDC879B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86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0BA0A9-9897-4C78-96E7-FA441F86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ED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0B93D7-C5B8-48BB-8A3B-38A7101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7B8E3B-73C7-42E5-B45E-FBECB4E1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52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C302E3-9700-45E1-B9DC-E30D610D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33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结论确认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72D35C-CDC2-4E72-9DF5-9F7D3A9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910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等待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FF9EBC-703B-4B4B-816F-6AB3E92B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48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E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952D8B-632F-40E8-B3D2-08335493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7C2CA0-496A-407E-BBF3-99C242E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C2B3E0-A678-4C80-845B-F762754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38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证据固化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30CF21-5163-409C-B64D-E2778113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95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等待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05DB01-6540-46C2-AB2B-BD502271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28750"/>
            <a:ext cx="4476750" cy="48958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2B0D5C-226A-42CC-A256-70CA6CA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81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证据清单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5368C6-2A2D-481D-A8AB-8FD9C1D4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81150"/>
            <a:ext cx="1000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4D9AB0-092E-4641-9CCB-6106E344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811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共9项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50AA2C-F18E-4B56-B58B-2E451E5E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4095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8BD515-B203-40DB-9846-A43AA5CE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E-001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827636-AB04-4E1C-AE4E-3BCF93B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193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原始视频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744594-855E-4265-B7FB-0DDAABF6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43125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B777DB-ACF8-4384-A2C6-76D9E4A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431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已校验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CACF47-EDB0-43B6-95B7-1A55D607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4095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8D6BC6-92E3-4260-B3E0-6FDBE4A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E-002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F3CE67-523D-4106-AD3D-9A0C8F8C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来源页面截图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8C89A8-B906-45FA-8833-55EFEDD5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52725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5DE20C-9AC5-4399-B255-02BC7EA0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527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已固化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7FE8C2-D5A0-4E8C-972D-D6713EF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4095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D12AD7-A760-4C87-83D9-2A1F079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E-003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A709B4-31CF-44F2-B10E-D839BD6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38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风险片段 01:02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7520C0-57F8-43A4-BA88-351C7A8F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62325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640973-DD1C-413B-80D2-916123F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623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待确认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F895B4-DD3D-4179-8731-C78F9B63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48100"/>
            <a:ext cx="4095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13454B0-B37E-443F-B21F-187B365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481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E-004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690DA2-D88D-4054-8725-38857AF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同源对照结果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90F96D5-F26A-44B7-9650-33020FE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71925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2C056C-3EBE-487D-B481-7EF4B668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719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已确认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0BB6EA-5081-4F92-AF90-03F235B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57700"/>
            <a:ext cx="4095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7FBA2C9-96B3-43C0-BCE3-2F890FBE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E-005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44D3FB-5775-4486-A403-C262144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57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权威通报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D9D148-0F51-4168-BE2A-894E5890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81525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C561BF-1F35-4027-9725-5B772C9A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815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已引用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53A4DE1-76CD-4D06-A02F-D9D5E7D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95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130AED2-2542-4CF6-9AA5-9FE7D7A5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9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查看证据关系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5BA86E-D937-4224-9799-752CB67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B106E8-B97E-4FCD-B7CA-B9136A9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生成核查报告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FC0C5-7A66-43A3-B5C3-6E6B1CE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2428875" cy="48958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752AC0-BE86-42C3-9A2F-FAFC445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81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复核意见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9E1801-346D-4D1A-8D2F-05717EF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结论类型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53B2F3-CF7F-4071-B4B3-C8E788C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204787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37DE96-A890-4227-9C10-011F1E3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证据不足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071EA3-E213-4A93-8824-F584981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审核意见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71FE75-A4C4-492B-9914-1C05BA0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2047875" cy="1371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6E7447-B121-4911-8738-D5CC01FE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18192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经核验，现有证据能够确认素材存在编辑，但不足以认定发布账号为首发来源。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93C427-6AB9-4797-A4E4-6D7B4685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339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8804E3-9612-491A-9199-7777506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33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退回补充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F445FB-61A2-445C-A617-CC64275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53390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60E9BC3-2083-4486-9D6D-BDC6A4A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533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提交会审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C4CFE46-52EE-46D6-AE34-106849B2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00650"/>
            <a:ext cx="20478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796649-BF36-48AF-AC57-FB665E1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006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保存审核意见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594E0C-83E1-48B6-A5D4-85678B1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657850"/>
            <a:ext cx="20478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E4E731-8308-4C63-8F05-25109A43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6578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提交复核结论</a:t>
            </a:r>
          </a:p>
        </p:txBody>
      </p:sp>
    </p:spTree>
    <p:extLst>
      <p:ext uri="{BB962C8B-B14F-4D97-AF65-F5344CB8AC3E}">
        <p14:creationId xmlns:p14="http://schemas.microsoft.com/office/powerpoint/2010/main" val="221982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CF349CD-04FB-4F83-902C-7EDE79A3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7A64F-FE51-4085-B177-C555ADFC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短视频与图片智能识别溯源系统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02E54-AC98-436D-99B4-3AEB1BC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研判员  张某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FC54B-6921-4F82-B4B6-DFF2A2A1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1544A-5070-4776-AD28-4887AC4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69545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18059-D9FF-4A0C-8E5B-3508570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66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FC3DF"/>
                </a:solidFill>
                <a:latin typeface="Noto Sans CJK SC"/>
                <a:ea typeface="Noto Sans CJK SC"/>
                <a:cs typeface="Noto Sans CJK SC"/>
              </a:rPr>
              <a:t>功能模块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F3791-F4CF-4B17-AE6A-67F2343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14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8EDCC-7FD7-4256-9BB9-79623D2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数据接入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3AC50-E70F-47DE-BB8B-FF6D262B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6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04430-BDB0-4701-A419-2B43CE6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478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006C9-CAFB-430F-B77C-056F952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C42DF-2787-47BB-AE2A-708CC114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媒体预处理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83654-DB19-4B1A-A9C8-76B0B060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FD0B1-9DF7-4E8A-A5E0-CDDBFB2E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F3424-9A80-4179-ABB9-0920A0B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EE288-6823-497F-B837-E62A0D4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8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90E2-3A9E-482E-8BE5-CC6F45D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61095-5229-4633-AF22-4DA91A89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385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图片检索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F77FD-823B-4E61-824B-32AE4FE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7C78C-E42B-426C-B22E-CD72F9A7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86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视频溯源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16C35-C47F-46E3-B80A-58A065F2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309B6-BE2B-4704-A4ED-61D630EF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338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首发分析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3AFB8-740D-4853-9D3A-EDB38F36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FFE87-8EFD-49F8-A87C-06069DC6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8152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传播分析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5A67C-9418-471F-B0F3-D22AA04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14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4ECD8-DA24-4D6D-9F1D-EFDAEA6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2920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7C9F6-7C21-49A9-AB8E-2C81AA46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A8C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16C09-2989-4E9C-802F-F222BBD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DCEAF5"/>
                </a:solidFill>
                <a:latin typeface="Noto Sans CJK SC"/>
                <a:ea typeface="Noto Sans CJK SC"/>
                <a:cs typeface="Noto Sans CJK SC"/>
              </a:rPr>
              <a:t>审核管理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B0B96-88C2-4B58-82C3-F60D61AE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924550"/>
            <a:ext cx="1504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45C8C"/>
          </a:solidFill>
          <a:ln xmlns:a="http://schemas.openxmlformats.org/drawingml/2006/main" w="9525">
            <a:solidFill>
              <a:srgbClr val="245C8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A13CE-71D3-4BFB-903C-5DAB713A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4B9E5-EDCC-4243-882C-40073E96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24550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系统运维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5B458-F8A6-47C8-97D3-3B93732C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4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综合管理与运维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DF00A-C5D5-4DA2-9909-B1AF604C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382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管理权限、业务规则和模型版本，监控任务、算力与存储运行状态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FDB63-C379-47DA-AA24-798FFF48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3A6E94-152A-40A9-B138-8CB6945F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62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界面原型  示意数据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F2DE4B-F0E3-41D5-B3DD-E754DE02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287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31B79-4725-4B9D-B8EA-9127527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240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运行任务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61679-92D3-4506-AF1E-C46E6A1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33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F9B2F-6E3F-4A32-8273-48FE200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A3DE4B-79DF-4443-9873-16C2382B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平均等待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C62387-0C48-4866-8FEB-E0AFC4E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33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18秒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D7578E-5ACE-48F7-8367-96D3EEF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28750"/>
            <a:ext cx="2190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F2680-1661-4ACD-8736-B226AEB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240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GPU利用率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FBF98-3C53-4397-8F5E-AF935069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257C7"/>
                </a:solidFill>
                <a:latin typeface="Noto Sans CJK SC"/>
                <a:ea typeface="Noto Sans CJK SC"/>
                <a:cs typeface="Noto Sans CJK SC"/>
              </a:rPr>
              <a:t>72%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F9E877-3B13-40D0-9131-1E336BDA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28750"/>
            <a:ext cx="26384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7EB890-809A-47B9-8BBD-53A251F6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24000"/>
            <a:ext cx="2371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今日告警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03A671-D2A8-44AD-914D-3177FEA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2371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E73B1B-2217-4797-BE2C-0E7C7AE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4762500" cy="3981450"/>
          </a:xfrm>
          <a:prstGeom xmlns:a="http://schemas.openxmlformats.org/drawingml/2006/main" prst="roundRect">
            <a:avLst>
              <a:gd name="adj" fmla="val 1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92A493-9391-43D2-9B4D-D19EC909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95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服务运行状态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770F7A-5774-425F-A145-73BB93A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14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API网关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BCA0F-B512-4912-A950-487C6E64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4322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C35C8D-F95A-4154-9DE2-CB6C9992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432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正常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99DBF7-8F29-430C-9F4C-8A61018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28 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6A1DE0-DBCA-4390-97C1-C63E03B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5AD686-CAD4-42B6-AC65-45221E7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29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媒体处理服务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0FA405-78DD-4151-A15E-6A9EDFF3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5757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88F5C8-B035-48AC-8B6A-BCA7893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57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正常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32B761-47B8-48C7-97E8-328B0E65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队列 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A0C67E-EF3B-4FE3-B9E3-AC8C3FB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10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CD5200-4A4A-4295-9E08-52A4F7C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风险识别服务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EE5955-E28D-4B85-AD6C-085F228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7192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5D1736-5A7C-4EE6-9C3F-CEC6421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719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正常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09116E-484E-443D-A733-9FE08D3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 72%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7E4041-4E83-43FD-B68A-5C5EA0B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243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228EF7-5157-44F0-8B27-5ED85FF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57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同源检索服务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288F27-A2BA-49E5-8E74-58F7D7C8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8627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24D3A8-6601-4267-89C3-07F0D13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86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轻微延迟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3874AF-50A9-4452-ABA1-50D2ACD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队列 24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F65DA5-028E-42BC-BC2A-ABA4391C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387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38290E-0BD1-4DDE-A196-6E502CF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证据存储服务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DA6EDF-5BAE-49EF-97C2-DF4F332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0062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1149F2-E0EE-44AC-A91A-7A8D5B8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00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正常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ECDBB8-7D8F-4D7A-94ED-23B12F32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72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容量 68%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623AA9-B4EC-4353-BC21-04403322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530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23FB49-79EC-4B07-86D3-6B236EC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38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近24小时任务成功率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53ABC1-6A7F-406C-8E4B-BF8E459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76900"/>
            <a:ext cx="23622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9525">
            <a:solidFill>
              <a:srgbClr val="E6EEF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24D1FB-2323-4D48-8820-0A73D56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76900"/>
            <a:ext cx="22098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9E6A"/>
          </a:solidFill>
          <a:ln xmlns:a="http://schemas.openxmlformats.org/drawingml/2006/main" w="9525">
            <a:solidFill>
              <a:srgbClr val="1E9E6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838FC5-2499-4DC8-8C89-BDC27891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905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E9E6A"/>
                </a:solidFill>
                <a:latin typeface="Noto Sans CJK SC"/>
                <a:ea typeface="Noto Sans CJK SC"/>
                <a:cs typeface="Noto Sans CJK SC"/>
              </a:rPr>
              <a:t>93.6%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B8F6E6-A26B-47BD-987D-F1061C7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471487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978D3E1-8992-42F6-9637-35316DCF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模型版本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DA2B49-7DAA-463C-8C10-BF95D3C8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1028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AF3F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2D6A4E-0010-44E2-B276-8DEC3DAC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955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769AA"/>
                </a:solidFill>
                <a:latin typeface="Noto Sans CJK SC"/>
                <a:ea typeface="Noto Sans CJK SC"/>
                <a:cs typeface="Noto Sans CJK SC"/>
              </a:rPr>
              <a:t>灰度发布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4FC95A-8DF8-414F-8256-C5E29889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161925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607E4D8-AF8D-4AAC-B7DF-84F97F3F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65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模型服务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9A6FDF-B688-4ACD-84EE-8B8264B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1000125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CD94FD-3A06-49E6-BA87-EBF7C889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88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当前版本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7991B1-A47A-4F79-8B85-939E35D9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9525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D665B1-D994-44CA-877A-8F0B312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765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状态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EF62C1-0549-4807-8344-D7AA75DD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876550"/>
            <a:ext cx="762000" cy="32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A8C99E-328E-4A33-B529-39A7001C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8765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操作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2A1C4E-B02E-4548-8EAF-4022045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BE731F-8EBF-4D5F-96F4-1FAE767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2DA3942-42C3-4AA8-B9D7-0203341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1000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18956E-6730-4E87-94B2-164608B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847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v1.4.2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A86BD5-7793-4029-9BA6-B51DF36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952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0E80FC-EA24-41D0-897A-CA3229FD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004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稳定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83E15DF-05E7-46E5-8CD2-B77D5A7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00400"/>
            <a:ext cx="762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DEAB8CA-01E0-4391-894E-7E25555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004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详情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014B50-0124-4349-A8B0-3345A7B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161925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8910927-73DE-4CE7-A042-A44AABC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623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篡改检测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F3FDA99-2E46-4C22-8E83-497CC7A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1000125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216484-01D4-4071-84AA-1D85E5E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847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v1.2.0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4BCEE4D-7375-45B1-B9BA-03D4C90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562350"/>
            <a:ext cx="9525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9A9D3C-5736-4942-854F-E0BA09A9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623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灰度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2E1860-E625-461A-835E-01457823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562350"/>
            <a:ext cx="762000" cy="3619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BE11E2-EB8F-4934-9DC2-55BB27C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5623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回滚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EDE7B3-4431-4FCE-8876-35251AE3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471487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D703522-5A33-4B87-AB0F-F72D0496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7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系统告警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182448-8AC2-4C0F-A772-D3A68810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48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38C40AF-E2DE-40F7-A2C6-9485891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72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10:02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87B211-B8BD-4F86-A2B0-D747951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检索队列等待时间偏高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EBF5776-8630-4ACA-9DC9-7A588695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30C1C1-DC4C-4943-8CAB-20C2A51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72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09:35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FEC74B-4042-4AF3-BA89-5B7FD98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72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存储容量达到提醒阈值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420301F-572E-4CD5-92B2-296AD556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84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F4D3499-3685-40C9-BF38-B2988F9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721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08:16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E835E9A-5A85-4E41-BA37-5AEC9D34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72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模型服务重启后已恢复</a:t>
            </a:r>
          </a:p>
        </p:txBody>
      </p:sp>
    </p:spTree>
    <p:extLst>
      <p:ext uri="{BB962C8B-B14F-4D97-AF65-F5344CB8AC3E}">
        <p14:creationId xmlns:p14="http://schemas.microsoft.com/office/powerpoint/2010/main" val="417023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2026-10-02T02:24:45.3170000Z</dcterms:created>
  <dcterms:modified xsi:type="dcterms:W3CDTF">2026-10-02T02:24:45.3170000Z</dcterms:modified>
</coreProperties>
</file>